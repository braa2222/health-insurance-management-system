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4"/>
    <p:sldId id="266" r:id="rId12"/>
    <p:sldId id="267" r:id="rId13"/>
    <p:sldId id="277" r:id="rId27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lide01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0"/>
            <a:ext cx="5500116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77570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448056"/>
            <a:ext cx="969264" cy="50292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00200" y="448056"/>
            <a:ext cx="320040" cy="50292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lide01_pi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68708"/>
            <a:ext cx="2798064" cy="9668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1828800"/>
            <a:ext cx="1920240" cy="365760"/>
          </a:xfrm>
          <a:prstGeom prst="roundRect">
            <a:avLst/>
          </a:prstGeom>
          <a:solidFill>
            <a:srgbClr val="EDF5FF"/>
          </a:solidFill>
          <a:ln w="8890">
            <a:solidFill>
              <a:srgbClr val="C6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915668"/>
            <a:ext cx="16733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78EA"/>
                </a:solidFill>
                <a:latin typeface="Inter"/>
              </a:rPr>
              <a:t>GRADUATION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95144"/>
            <a:ext cx="58521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80" b="1" i="0">
                <a:solidFill>
                  <a:srgbClr val="0C2454"/>
                </a:solidFill>
                <a:latin typeface="Inter"/>
              </a:rPr>
              <a:t>Health Insurance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80" b="1" i="0">
                <a:solidFill>
                  <a:srgbClr val="0C2454"/>
                </a:solidFill>
                <a:latin typeface="Inter"/>
              </a:rPr>
              <a:t>Management System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3529584"/>
            <a:ext cx="5522976" cy="0"/>
          </a:xfrm>
          <a:prstGeom prst="line">
            <a:avLst/>
          </a:prstGeom>
          <a:ln w="25400">
            <a:solidFill>
              <a:srgbClr val="0CA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3721608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53660"/>
                </a:solidFill>
                <a:latin typeface="Inter"/>
              </a:rPr>
              <a:t>Software Engineering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87368"/>
            <a:ext cx="53949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F7390"/>
                </a:solidFill>
                <a:latin typeface="Inter"/>
              </a:rPr>
              <a:t>Syrian Private University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553712"/>
            <a:ext cx="5605272" cy="795528"/>
          </a:xfrm>
          <a:prstGeom prst="roundRect">
            <a:avLst/>
          </a:prstGeom>
          <a:solidFill>
            <a:srgbClr val="F4F9FE"/>
          </a:solidFill>
          <a:ln w="8890">
            <a:solidFill>
              <a:srgbClr val="D4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466344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078EA"/>
                </a:solidFill>
                <a:latin typeface="Inter"/>
              </a:rPr>
              <a:t>PREPARED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95604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0C2454"/>
                </a:solidFill>
                <a:latin typeface="Inter"/>
              </a:rPr>
              <a:t>Baraa Alhayek  •  Abdulaziz Haj Ali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77256"/>
            <a:ext cx="5605272" cy="713232"/>
          </a:xfrm>
          <a:prstGeom prst="roundRect">
            <a:avLst/>
          </a:prstGeom>
          <a:solidFill>
            <a:srgbClr val="F4F9FE"/>
          </a:solidFill>
          <a:ln w="8890">
            <a:solidFill>
              <a:srgbClr val="D4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5568696"/>
            <a:ext cx="1335024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078EA"/>
                </a:solidFill>
                <a:latin typeface="Inter"/>
              </a:rPr>
              <a:t>SUPERVISED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860366"/>
            <a:ext cx="5175504" cy="1938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0C2454"/>
                </a:solidFill>
                <a:latin typeface="Inter"/>
              </a:rPr>
              <a:t>  Dr. Kadan Jumaa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639165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F7390"/>
                </a:solidFill>
                <a:latin typeface="Inter"/>
              </a:rPr>
              <a:t>October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22592" y="6144768"/>
            <a:ext cx="4837176" cy="466344"/>
          </a:xfrm>
          <a:prstGeom prst="roundRect">
            <a:avLst/>
          </a:prstGeom>
          <a:solidFill>
            <a:srgbClr val="0C2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14616" y="6199632"/>
            <a:ext cx="44897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A Role-Based Web Platform for Health Insurance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995160" y="457200"/>
            <a:ext cx="4828032" cy="5897880"/>
          </a:xfrm>
          <a:prstGeom prst="ellipse">
            <a:avLst/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292608"/>
            <a:ext cx="457200" cy="41148"/>
          </a:xfrm>
          <a:prstGeom prst="roundRect">
            <a:avLst>
              <a:gd name="adj" fmla="val 10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1560" y="292608"/>
            <a:ext cx="347472" cy="41148"/>
          </a:xfrm>
          <a:prstGeom prst="roundRect">
            <a:avLst>
              <a:gd name="adj" fmla="val 10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99032" y="292608"/>
            <a:ext cx="365760" cy="41148"/>
          </a:xfrm>
          <a:prstGeom prst="roundRect">
            <a:avLst>
              <a:gd name="adj" fmla="val 10000"/>
            </a:avLst>
          </a:prstGeom>
          <a:solidFill>
            <a:srgbClr val="C9E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48463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586E8E"/>
                </a:solidFill>
                <a:latin typeface="Aptos"/>
              </a:rPr>
              <a:t>01  /  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86384"/>
            <a:ext cx="658368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E2B5C"/>
                </a:solidFill>
                <a:latin typeface="Aptos"/>
              </a:rPr>
              <a:t>Health Insurance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8016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40" b="1">
                <a:solidFill>
                  <a:srgbClr val="1D78E8"/>
                </a:solidFill>
                <a:latin typeface="Aptos"/>
              </a:rPr>
              <a:t>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6492240" cy="813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586E8E"/>
                </a:solidFill>
                <a:latin typeface="Aptos"/>
              </a:rPr>
              <a:t>A web-based platform that manages insurance plans, subscriptions,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586E8E"/>
                </a:solidFill>
                <a:latin typeface="Aptos"/>
              </a:rPr>
              <a:t>reimbursement requests, and subscriber eligibility through secure,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586E8E"/>
                </a:solidFill>
                <a:latin typeface="Aptos"/>
              </a:rPr>
              <a:t>role-based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44952"/>
            <a:ext cx="3108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9E7F5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2376" y="3191256"/>
            <a:ext cx="557784" cy="55778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7532" y="3310128"/>
            <a:ext cx="347472" cy="301752"/>
          </a:xfrm>
          <a:prstGeom prst="roundRect">
            <a:avLst>
              <a:gd name="adj" fmla="val 22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" y="3346704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154680"/>
            <a:ext cx="21579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E2B5C"/>
                </a:solidFill>
                <a:latin typeface="Aptos"/>
              </a:rPr>
              <a:t>Project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474720"/>
            <a:ext cx="2185416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86E8E"/>
                </a:solidFill>
                <a:latin typeface="Aptos"/>
              </a:rPr>
              <a:t>Web-based information system for health insurance management.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14800"/>
            <a:ext cx="3108960" cy="50292"/>
          </a:xfrm>
          <a:prstGeom prst="roundRect">
            <a:avLst>
              <a:gd name="adj" fmla="val 15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31336" y="3044952"/>
            <a:ext cx="3108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9E7F5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59352" y="3191256"/>
            <a:ext cx="557784" cy="557784"/>
          </a:xfrm>
          <a:prstGeom prst="ellipse">
            <a:avLst/>
          </a:prstGeom>
          <a:solidFill>
            <a:srgbClr val="E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064508" y="3310128"/>
            <a:ext cx="347472" cy="301752"/>
          </a:xfrm>
          <a:prstGeom prst="roundRect">
            <a:avLst>
              <a:gd name="adj" fmla="val 22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82796" y="3346704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3154680"/>
            <a:ext cx="21579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E2B5C"/>
                </a:solidFill>
                <a:latin typeface="Aptos"/>
              </a:rPr>
              <a:t>Main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3474720"/>
            <a:ext cx="2185416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86E8E"/>
                </a:solidFill>
                <a:latin typeface="Aptos"/>
              </a:rPr>
              <a:t>Subscriber, System Administrator, and Medical Service Provider.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31336" y="4114800"/>
            <a:ext cx="3108960" cy="50292"/>
          </a:xfrm>
          <a:prstGeom prst="roundRect">
            <a:avLst>
              <a:gd name="adj" fmla="val 15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" y="4297680"/>
            <a:ext cx="3108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9E7F5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4443984"/>
            <a:ext cx="557784" cy="55778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7532" y="4562856"/>
            <a:ext cx="347472" cy="301752"/>
          </a:xfrm>
          <a:prstGeom prst="roundRect">
            <a:avLst>
              <a:gd name="adj" fmla="val 22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" y="4599432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407408"/>
            <a:ext cx="21579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E2B5C"/>
                </a:solidFill>
                <a:latin typeface="Aptos"/>
              </a:rPr>
              <a:t>Core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727448"/>
            <a:ext cx="2185416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86E8E"/>
                </a:solidFill>
                <a:latin typeface="Aptos"/>
              </a:rPr>
              <a:t>Plans, subscriptions, reimbursement requests, and eligibility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367528"/>
            <a:ext cx="3108960" cy="50292"/>
          </a:xfrm>
          <a:prstGeom prst="roundRect">
            <a:avLst>
              <a:gd name="adj" fmla="val 15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831336" y="4297680"/>
            <a:ext cx="3108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9E7F5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959352" y="4443984"/>
            <a:ext cx="557784" cy="557784"/>
          </a:xfrm>
          <a:prstGeom prst="ellipse">
            <a:avLst/>
          </a:prstGeom>
          <a:solidFill>
            <a:srgbClr val="F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064508" y="4562856"/>
            <a:ext cx="347472" cy="301752"/>
          </a:xfrm>
          <a:prstGeom prst="roundRect">
            <a:avLst>
              <a:gd name="adj" fmla="val 22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82796" y="4599432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4407408"/>
            <a:ext cx="21579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E2B5C"/>
                </a:solidFill>
                <a:latin typeface="Aptos"/>
              </a:rPr>
              <a:t>Key Characteristic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4727448"/>
            <a:ext cx="2185416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86E8E"/>
                </a:solidFill>
                <a:latin typeface="Aptos"/>
              </a:rPr>
              <a:t>Separate interfaces and permissions for each user role.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31336" y="5367528"/>
            <a:ext cx="3108960" cy="50292"/>
          </a:xfrm>
          <a:prstGeom prst="roundRect">
            <a:avLst>
              <a:gd name="adj" fmla="val 15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8549640" y="658368"/>
            <a:ext cx="0" cy="256032"/>
          </a:xfrm>
          <a:prstGeom prst="line">
            <a:avLst/>
          </a:prstGeom>
          <a:ln w="1397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41664" y="667512"/>
            <a:ext cx="2807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586E8E"/>
                </a:solidFill>
                <a:latin typeface="Aptos"/>
              </a:rPr>
              <a:t>SYSTEM AT A GLANCE</a:t>
            </a:r>
          </a:p>
        </p:txBody>
      </p:sp>
      <p:sp>
        <p:nvSpPr>
          <p:cNvPr id="41" name="Oval 40"/>
          <p:cNvSpPr/>
          <p:nvPr/>
        </p:nvSpPr>
        <p:spPr>
          <a:xfrm>
            <a:off x="7616952" y="1344168"/>
            <a:ext cx="566928" cy="566928"/>
          </a:xfrm>
          <a:prstGeom prst="ellipse">
            <a:avLst/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835493" y="1463040"/>
            <a:ext cx="129844" cy="1298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748625" y="1632204"/>
            <a:ext cx="303580" cy="159105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336024" y="1344168"/>
            <a:ext cx="566928" cy="566928"/>
          </a:xfrm>
          <a:prstGeom prst="ellipse">
            <a:avLst/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509760" y="1499616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9464040" y="1755648"/>
            <a:ext cx="310896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64040" y="1828800"/>
            <a:ext cx="310896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588398" y="1559966"/>
            <a:ext cx="62179" cy="62179"/>
          </a:xfrm>
          <a:prstGeom prst="ellipse">
            <a:avLst/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945367" y="1344168"/>
            <a:ext cx="566928" cy="566928"/>
          </a:xfrm>
          <a:prstGeom prst="ellipse">
            <a:avLst/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1027663" y="1540764"/>
            <a:ext cx="40233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1164824" y="1417320"/>
            <a:ext cx="128016" cy="429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1192256" y="1444752"/>
            <a:ext cx="73152" cy="365760"/>
          </a:xfrm>
          <a:prstGeom prst="roundRect">
            <a:avLst>
              <a:gd name="adj" fmla="val 10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1064240" y="1568196"/>
            <a:ext cx="329184" cy="128016"/>
          </a:xfrm>
          <a:prstGeom prst="roundRect">
            <a:avLst>
              <a:gd name="adj" fmla="val 10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2631" y="20025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E2B5C"/>
                </a:solidFill>
                <a:latin typeface="Aptos"/>
              </a:rPr>
              <a:t>Subscriber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2002536"/>
            <a:ext cx="1307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E2B5C"/>
                </a:solidFill>
                <a:latin typeface="Aptos"/>
              </a:rPr>
              <a:t>System Admin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2002536"/>
            <a:ext cx="1636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2B5C"/>
                </a:solidFill>
                <a:latin typeface="Aptos"/>
              </a:rPr>
              <a:t>Medical Provider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3488" y="225856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86E8E"/>
                </a:solidFill>
                <a:latin typeface="Aptos"/>
              </a:rPr>
              <a:t>View coverage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7968" y="2258568"/>
            <a:ext cx="14721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86E8E"/>
                </a:solidFill>
                <a:latin typeface="Aptos"/>
              </a:rPr>
              <a:t>Manage workflows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79608" y="225856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86E8E"/>
                </a:solidFill>
                <a:latin typeface="Aptos"/>
              </a:rPr>
              <a:t>Verify eligibility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900416" y="2496312"/>
            <a:ext cx="0" cy="320040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19488" y="2496312"/>
            <a:ext cx="0" cy="320040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228832" y="2496312"/>
            <a:ext cx="0" cy="320040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900416" y="2816352"/>
            <a:ext cx="3328416" cy="0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19488" y="2816352"/>
            <a:ext cx="0" cy="100584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9564624" y="2788920"/>
            <a:ext cx="109728" cy="109728"/>
          </a:xfrm>
          <a:prstGeom prst="ellipse">
            <a:avLst/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333488" y="2898648"/>
            <a:ext cx="4562856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E3FA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434072" y="3017520"/>
            <a:ext cx="4361688" cy="310896"/>
          </a:xfrm>
          <a:prstGeom prst="roundRect">
            <a:avLst>
              <a:gd name="adj" fmla="val 10000"/>
            </a:avLst>
          </a:prstGeom>
          <a:solidFill>
            <a:srgbClr val="0E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7552944" y="310896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44968" y="3072384"/>
            <a:ext cx="3099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ptos"/>
              </a:rPr>
              <a:t>HEALTH INSURANCE  /  OVERVIEW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70648" y="3429000"/>
            <a:ext cx="1042415" cy="1837943"/>
          </a:xfrm>
          <a:prstGeom prst="roundRect">
            <a:avLst>
              <a:gd name="adj" fmla="val 12000"/>
            </a:avLst>
          </a:prstGeom>
          <a:solidFill>
            <a:srgbClr val="143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589520" y="3584448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81544" y="3547872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Plans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89520" y="3959352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81544" y="3922776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FFFFFF"/>
                </a:solidFill>
                <a:latin typeface="Aptos"/>
              </a:rPr>
              <a:t>Subs.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89520" y="4334256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81544" y="4297680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FFFFFF"/>
                </a:solidFill>
                <a:latin typeface="Aptos"/>
              </a:rPr>
              <a:t>Requests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89520" y="4709160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781544" y="4672584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FFFFFF"/>
                </a:solidFill>
                <a:latin typeface="Aptos"/>
              </a:rPr>
              <a:t>Eligibility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3447288"/>
            <a:ext cx="288950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B5C"/>
                </a:solidFill>
                <a:latin typeface="Aptos"/>
              </a:rPr>
              <a:t>Core Workflows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695944" y="3822191"/>
            <a:ext cx="1344168" cy="502920"/>
          </a:xfrm>
          <a:prstGeom prst="roundRect">
            <a:avLst>
              <a:gd name="adj" fmla="val 18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778240" y="3931920"/>
            <a:ext cx="54864" cy="256032"/>
          </a:xfrm>
          <a:prstGeom prst="roundRect">
            <a:avLst>
              <a:gd name="adj" fmla="val 12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906256" y="3950207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2B5C"/>
                </a:solidFill>
                <a:latin typeface="Aptos"/>
              </a:rPr>
              <a:t>Plans &amp; Coverage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140696" y="3822191"/>
            <a:ext cx="1344168" cy="502920"/>
          </a:xfrm>
          <a:prstGeom prst="roundRect">
            <a:avLst>
              <a:gd name="adj" fmla="val 18000"/>
            </a:avLst>
          </a:prstGeom>
          <a:solidFill>
            <a:srgbClr val="E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0222992" y="3931920"/>
            <a:ext cx="54864" cy="256032"/>
          </a:xfrm>
          <a:prstGeom prst="roundRect">
            <a:avLst>
              <a:gd name="adj" fmla="val 12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351008" y="3950207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2B5C"/>
                </a:solidFill>
                <a:latin typeface="Aptos"/>
              </a:rPr>
              <a:t>Subscriptions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695944" y="4425696"/>
            <a:ext cx="1344168" cy="502920"/>
          </a:xfrm>
          <a:prstGeom prst="roundRect">
            <a:avLst>
              <a:gd name="adj" fmla="val 18000"/>
            </a:avLst>
          </a:prstGeom>
          <a:solidFill>
            <a:srgbClr val="F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8778240" y="4535424"/>
            <a:ext cx="54864" cy="256032"/>
          </a:xfrm>
          <a:prstGeom prst="roundRect">
            <a:avLst>
              <a:gd name="adj" fmla="val 12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906256" y="455371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2B5C"/>
                </a:solidFill>
                <a:latin typeface="Aptos"/>
              </a:rPr>
              <a:t>Reimbursements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40696" y="4425696"/>
            <a:ext cx="1344168" cy="502920"/>
          </a:xfrm>
          <a:prstGeom prst="roundRect">
            <a:avLst>
              <a:gd name="adj" fmla="val 18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10222992" y="4535424"/>
            <a:ext cx="54864" cy="256032"/>
          </a:xfrm>
          <a:prstGeom prst="roundRect">
            <a:avLst>
              <a:gd name="adj" fmla="val 12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351008" y="455371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2B5C"/>
                </a:solidFill>
                <a:latin typeface="Aptos"/>
              </a:rPr>
              <a:t>Eligibility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05088" y="5120640"/>
            <a:ext cx="2834640" cy="164592"/>
          </a:xfrm>
          <a:prstGeom prst="roundRect">
            <a:avLst>
              <a:gd name="adj" fmla="val 22000"/>
            </a:avLst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759952" y="5120640"/>
            <a:ext cx="2715768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E8E"/>
                </a:solidFill>
                <a:latin typeface="Aptos"/>
              </a:rPr>
              <a:t>Role-based workflows · Centralized records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18120" y="5422392"/>
            <a:ext cx="3611880" cy="86868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30183" y="5541264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86E8E"/>
                </a:solidFill>
                <a:latin typeface="Aptos"/>
              </a:rPr>
              <a:t>Illustrative platform overview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3504" y="5815584"/>
            <a:ext cx="10972800" cy="548640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 w="10160">
            <a:solidFill>
              <a:srgbClr val="C9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77240" y="5934456"/>
            <a:ext cx="292608" cy="292608"/>
          </a:xfrm>
          <a:prstGeom prst="ellipse">
            <a:avLst/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22960" y="5989320"/>
            <a:ext cx="21031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07008" y="5971032"/>
            <a:ext cx="1344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0E2B5C"/>
                </a:solidFill>
                <a:latin typeface="Aptos"/>
              </a:rPr>
              <a:t>PROJECT FOCUS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2633472" y="5943600"/>
            <a:ext cx="0" cy="283464"/>
          </a:xfrm>
          <a:prstGeom prst="line">
            <a:avLst/>
          </a:prstGeom>
          <a:ln w="1397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816352" y="5934456"/>
            <a:ext cx="8549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4416A"/>
                </a:solidFill>
                <a:latin typeface="Aptos"/>
              </a:rPr>
              <a:t>Integrating core insurance services in one platform to improve organization, access, and efficiency.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21792" y="6556248"/>
            <a:ext cx="10954512" cy="0"/>
          </a:xfrm>
          <a:prstGeom prst="line">
            <a:avLst/>
          </a:prstGeom>
          <a:ln w="10160">
            <a:solidFill>
              <a:srgbClr val="D9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640080" y="6647688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59536" y="6601968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86E8E"/>
                </a:solidFill>
                <a:latin typeface="Aptos"/>
              </a:rPr>
              <a:t>Health Insurance Management System  |  Graduation Project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247120" y="660196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86E8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Problem Statement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Why the system is needed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463040"/>
            <a:ext cx="5422392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968" y="1792224"/>
            <a:ext cx="667512" cy="66751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1824228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78EA"/>
                </a:solidFill>
                <a:latin typeface="Inter"/>
              </a:rPr>
              <a:t>≡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46504" y="1691640"/>
            <a:ext cx="0" cy="950976"/>
          </a:xfrm>
          <a:prstGeom prst="line">
            <a:avLst/>
          </a:prstGeom>
          <a:ln w="12700">
            <a:solidFill>
              <a:srgbClr val="D7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93391" y="1737360"/>
            <a:ext cx="383133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Manual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1" y="2157984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283F5C"/>
                </a:solidFill>
                <a:latin typeface="Inter"/>
              </a:rPr>
              <a:t>Administrative operations are slow and repetitive.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1463040"/>
            <a:ext cx="5422392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28816" y="1792224"/>
            <a:ext cx="667512" cy="66751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92824" y="1824228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A99F"/>
                </a:solidFill>
                <a:latin typeface="Inter"/>
              </a:rPr>
              <a:t>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88352" y="1691640"/>
            <a:ext cx="0" cy="950976"/>
          </a:xfrm>
          <a:prstGeom prst="line">
            <a:avLst/>
          </a:prstGeom>
          <a:ln w="12700">
            <a:solidFill>
              <a:srgbClr val="D7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35240" y="1737360"/>
            <a:ext cx="383133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Poor Data Organization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157984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283F5C"/>
                </a:solidFill>
                <a:latin typeface="Inter"/>
              </a:rPr>
              <a:t>Subscriber records and plan information are difficult to manage.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090672"/>
            <a:ext cx="5422392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86968" y="3419856"/>
            <a:ext cx="667512" cy="66751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0976" y="3451860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78EA"/>
                </a:solidFill>
                <a:latin typeface="Inter"/>
              </a:rPr>
              <a:t>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746504" y="3319272"/>
            <a:ext cx="0" cy="950976"/>
          </a:xfrm>
          <a:prstGeom prst="line">
            <a:avLst/>
          </a:prstGeom>
          <a:ln w="12700">
            <a:solidFill>
              <a:srgbClr val="D7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93391" y="3401900"/>
            <a:ext cx="383133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600" b="1">
                <a:solidFill>
                  <a:srgbClr val="0C2454"/>
                </a:solidFill>
                <a:latin typeface="Inter"/>
              </a:rPr>
              <a:t>Limited Coverage Visibility</a:t>
            </a:r>
            <a:endParaRPr sz="1600" b="1">
              <a:solidFill>
                <a:srgbClr val="0C2454"/>
              </a:solidFill>
              <a:latin typeface="Inter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993391" y="3785615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283F5C"/>
                </a:solidFill>
                <a:latin typeface="Inter"/>
              </a:rPr>
              <a:t>Subscribers cannot easily access coverage details.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0216" y="3090672"/>
            <a:ext cx="5422392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528816" y="3419856"/>
            <a:ext cx="667512" cy="66751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92824" y="3451860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A99F"/>
                </a:solidFill>
                <a:latin typeface="Inter"/>
              </a:rPr>
              <a:t>◷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88352" y="3319272"/>
            <a:ext cx="0" cy="950976"/>
          </a:xfrm>
          <a:prstGeom prst="line">
            <a:avLst/>
          </a:prstGeom>
          <a:ln w="12700">
            <a:solidFill>
              <a:srgbClr val="D7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555253" y="3310461"/>
            <a:ext cx="383133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0C2454"/>
                </a:solidFill>
                <a:latin typeface="Inter"/>
              </a:rPr>
              <a:t>Slow Eligibility Verification</a:t>
            </a:r>
            <a:endParaRPr sz="1600" b="1">
              <a:solidFill>
                <a:srgbClr val="0C2454"/>
              </a:solidFill>
              <a:latin typeface="Inter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35240" y="3785615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283F5C"/>
                </a:solidFill>
                <a:latin typeface="Inter"/>
              </a:rPr>
              <a:t>Providers lack a quick verification method.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" y="5285232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04672" y="5376672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4283" y="5426964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5404104"/>
            <a:ext cx="1490472" cy="424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80" b="1" i="0">
                <a:solidFill>
                  <a:srgbClr val="2078EA"/>
                </a:solidFill>
                <a:latin typeface="Inter"/>
              </a:rPr>
              <a:t>consequences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380" b="1" i="0">
              <a:solidFill>
                <a:srgbClr val="2078EA"/>
              </a:solidFill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880360" y="5413248"/>
            <a:ext cx="8366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Delays, administrative errors, and weaker access to health insurance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7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Project Objectives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691787"/>
            <a:ext cx="1645920" cy="1800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70" b="0" i="0">
                <a:solidFill>
                  <a:srgbClr val="5F7390"/>
                </a:solidFill>
                <a:latin typeface="Inter"/>
              </a:rPr>
              <a:t>Project Goals</a:t>
            </a:r>
            <a:endParaRPr sz="1170" b="0" i="0">
              <a:solidFill>
                <a:srgbClr val="5F7390"/>
              </a:solidFill>
              <a:latin typeface="Inter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426464"/>
            <a:ext cx="5468112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1719072"/>
            <a:ext cx="667512" cy="66751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1751076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078EA"/>
                </a:solidFill>
                <a:latin typeface="Inter"/>
              </a:rPr>
              <a:t>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73352" y="1673352"/>
            <a:ext cx="0" cy="1133856"/>
          </a:xfrm>
          <a:prstGeom prst="line">
            <a:avLst/>
          </a:prstGeom>
          <a:ln w="10795">
            <a:solidFill>
              <a:srgbClr val="D4E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2960" y="1545336"/>
            <a:ext cx="301752" cy="301752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4964" y="1586484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1952" y="1728216"/>
            <a:ext cx="3977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C2454"/>
                </a:solidFill>
                <a:latin typeface="Inter"/>
              </a:rPr>
              <a:t>Enable Role-Based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01952" y="2157984"/>
            <a:ext cx="393192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60">
                <a:solidFill>
                  <a:srgbClr val="283F5C"/>
                </a:solidFill>
                <a:latin typeface="Inter"/>
              </a:rPr>
              <a:t>Role-based sign-in for all three user types, with account creation for subscribers and medical service providers.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60" b="0" i="0">
              <a:solidFill>
                <a:srgbClr val="283F5C"/>
              </a:solidFill>
              <a:latin typeface="Inter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91072" y="1426464"/>
            <a:ext cx="5468112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73952" y="1719072"/>
            <a:ext cx="667512" cy="66751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1751076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A99F"/>
                </a:solidFill>
                <a:latin typeface="Inter"/>
              </a:rPr>
              <a:t>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42631" y="1673352"/>
            <a:ext cx="0" cy="1133856"/>
          </a:xfrm>
          <a:prstGeom prst="line">
            <a:avLst/>
          </a:prstGeom>
          <a:ln w="10795">
            <a:solidFill>
              <a:srgbClr val="D4E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492240" y="1545336"/>
            <a:ext cx="301752" cy="301752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24244" y="1586484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1" y="1594863"/>
            <a:ext cx="3977639" cy="45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70" b="1">
                <a:solidFill>
                  <a:srgbClr val="0C2454"/>
                </a:solidFill>
                <a:latin typeface="Inter"/>
              </a:rPr>
              <a:t>Manage Insurance Plans and Coverage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70" b="1" i="0">
              <a:solidFill>
                <a:srgbClr val="0C2454"/>
              </a:solidFill>
              <a:latin typeface="Inte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43799" y="2065582"/>
            <a:ext cx="3959352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83F5C"/>
                </a:solidFill>
                <a:latin typeface="Inter"/>
              </a:rPr>
              <a:t>Create plans, define covered services, and assign coverage percentages.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264408"/>
            <a:ext cx="5468112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04672" y="3557015"/>
            <a:ext cx="667512" cy="66751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3589020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078EA"/>
                </a:solidFill>
                <a:latin typeface="Inter"/>
              </a:rPr>
              <a:t>▣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673352" y="3511296"/>
            <a:ext cx="0" cy="1133856"/>
          </a:xfrm>
          <a:prstGeom prst="line">
            <a:avLst/>
          </a:prstGeom>
          <a:ln w="10795">
            <a:solidFill>
              <a:srgbClr val="D4E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2960" y="3383279"/>
            <a:ext cx="301752" cy="301752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4964" y="3424427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1952" y="3566160"/>
            <a:ext cx="3977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C2454"/>
                </a:solidFill>
                <a:latin typeface="Inter"/>
              </a:rPr>
              <a:t>Manage Subscriptions and Coverage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01952" y="3995928"/>
            <a:ext cx="393192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60">
                <a:solidFill>
                  <a:srgbClr val="283F5C"/>
                </a:solidFill>
                <a:latin typeface="Inter"/>
              </a:rPr>
              <a:t>Enable administrators to activate subscriptions and subscribers to view their coverage details.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60" b="0" i="0">
              <a:solidFill>
                <a:srgbClr val="283F5C"/>
              </a:solidFill>
              <a:latin typeface="Inter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91072" y="3264408"/>
            <a:ext cx="5468112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473952" y="3557015"/>
            <a:ext cx="667512" cy="66751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3589020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42631" y="3511296"/>
            <a:ext cx="0" cy="1133856"/>
          </a:xfrm>
          <a:prstGeom prst="line">
            <a:avLst/>
          </a:prstGeom>
          <a:ln w="10795">
            <a:solidFill>
              <a:srgbClr val="D4E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492240" y="3383279"/>
            <a:ext cx="301752" cy="301752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24244" y="3424427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1231" y="3382285"/>
            <a:ext cx="3977640" cy="6786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70" b="1">
                <a:solidFill>
                  <a:srgbClr val="0C2454"/>
                </a:solidFill>
                <a:latin typeface="Inter"/>
              </a:rPr>
              <a:t>Manage Reimbursement Requests and Verify Eligibility</a:t>
            </a:r>
            <a:endParaRPr lang="ar-SY" sz="1470" b="1">
              <a:solidFill>
                <a:srgbClr val="0C2454"/>
              </a:solidFill>
              <a:latin typeface="Inte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70" b="1">
              <a:solidFill>
                <a:srgbClr val="0C2454"/>
              </a:solidFill>
              <a:latin typeface="Inte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571231" y="3995928"/>
            <a:ext cx="393192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60">
                <a:solidFill>
                  <a:srgbClr val="283F5C"/>
                </a:solidFill>
                <a:latin typeface="Inter"/>
              </a:rPr>
              <a:t>Submit and track reimbursement requests, support approval or rejection decisions, and verify subscriber eligibility.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60" b="0" i="0">
              <a:solidFill>
                <a:srgbClr val="283F5C"/>
              </a:solidFill>
              <a:latin typeface="Inter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12648" y="5513832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04672" y="5605272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4283" y="5655564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5650992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2078EA"/>
                </a:solidFill>
                <a:latin typeface="Inter"/>
              </a:rPr>
              <a:t>Outcome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360" y="5641848"/>
            <a:ext cx="8366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A working prototype of the Health Insurance Management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Development Methodology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Incremental development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" y="1307592"/>
            <a:ext cx="10259568" cy="4864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lide05_pi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115" y="1339595"/>
            <a:ext cx="8529865" cy="4800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194560" y="6263640"/>
            <a:ext cx="781812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90"/>
                </a:solidFill>
                <a:latin typeface="Inter"/>
              </a:rPr>
              <a:t>Incremental development methodology used in the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60" b="1" i="0">
                <a:solidFill>
                  <a:srgbClr val="0C2454"/>
                </a:solidFill>
                <a:latin typeface="Inter"/>
              </a:rPr>
              <a:t>Gantt Chart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Project schedule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1435608"/>
            <a:ext cx="11301984" cy="44256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lide06_pi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025107"/>
            <a:ext cx="11219688" cy="32466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89888" y="5971032"/>
            <a:ext cx="9372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F7390"/>
                </a:solidFill>
                <a:latin typeface="Inter"/>
              </a:rPr>
              <a:t>Figure: Gantt chart for the incremental development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Functional Requirements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Account &amp; insurance management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380744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1545336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1577339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72768" y="1517904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10512" y="15453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1847088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Create subscriber account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1380744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83096" y="1545336"/>
            <a:ext cx="548640" cy="548640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47104" y="1577339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A99F"/>
                </a:solidFill>
                <a:latin typeface="Inter"/>
              </a:rPr>
              <a:t>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51192" y="1517904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88936" y="15453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88936" y="1847088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Create provider account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2450591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04672" y="2615184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2647188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◎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72768" y="2587751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810512" y="261518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0512" y="2916935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Role-based sign-in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0216" y="2450591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83096" y="2615184"/>
            <a:ext cx="548640" cy="548640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47104" y="2647188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A99F"/>
                </a:solidFill>
                <a:latin typeface="Inter"/>
              </a:rPr>
              <a:t>▤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51192" y="2587751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88936" y="261518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8936" y="2916935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Add health insurance plan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3520439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04672" y="3685031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" y="3717035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%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572768" y="3657599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10512" y="3685031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0512" y="3986783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Define covered services and percentages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0216" y="3520439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483096" y="3685031"/>
            <a:ext cx="548640" cy="548640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47104" y="3717035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251192" y="3657599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488936" y="3685031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3986783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Activate subscriber subscription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4590288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04672" y="4754879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8680" y="4786883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▣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572768" y="4727448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810512" y="4754879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10512" y="5056631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View subscription details and coverage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216" y="4590288"/>
            <a:ext cx="5458968" cy="932688"/>
          </a:xfrm>
          <a:prstGeom prst="roundRect">
            <a:avLst/>
          </a:prstGeom>
          <a:solidFill>
            <a:srgbClr val="E7F5FF"/>
          </a:solidFill>
          <a:ln w="8890">
            <a:solidFill>
              <a:srgbClr val="BF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519672" y="4782312"/>
            <a:ext cx="493776" cy="49377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83680" y="4814316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6327" y="4764024"/>
            <a:ext cx="41605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C2454"/>
                </a:solidFill>
                <a:latin typeface="Inter"/>
              </a:rPr>
              <a:t>Account access and the setup of insurance plans and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Functional Requirements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Reimbursement &amp; eligibility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380744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1545336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1577339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72768" y="1517904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10512" y="15453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1847088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Submit reimbursement request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1380744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83096" y="1545336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47104" y="1577339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51192" y="1517904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88936" y="15453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88936" y="1847088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Upload invoice or medical document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2450591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04672" y="2615184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2647188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⌕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72768" y="2587751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810512" y="261518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0512" y="2916935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Track reimbursement request status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0216" y="2450591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83096" y="2615184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47104" y="2647188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▤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51192" y="2587751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88936" y="261518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8936" y="2916935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Review medical reimbursement requests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3520439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04672" y="3685031"/>
            <a:ext cx="548640" cy="548640"/>
          </a:xfrm>
          <a:prstGeom prst="ellipse">
            <a:avLst/>
          </a:prstGeom>
          <a:solidFill>
            <a:srgbClr val="E5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" y="3717035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A96B"/>
                </a:solidFill>
                <a:latin typeface="Inter"/>
              </a:rPr>
              <a:t>✓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572768" y="3657599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10512" y="3685031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0512" y="3986783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Approve reimbursement request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0216" y="3520439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483096" y="3685031"/>
            <a:ext cx="548640" cy="548640"/>
          </a:xfrm>
          <a:prstGeom prst="ellipse">
            <a:avLst/>
          </a:prstGeom>
          <a:solidFill>
            <a:srgbClr val="E5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47104" y="3717035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A96B"/>
                </a:solidFill>
                <a:latin typeface="Inter"/>
              </a:rPr>
              <a:t>×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251192" y="3657599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488936" y="3685031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3986783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Reject request with reason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4590288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04672" y="4754879"/>
            <a:ext cx="548640" cy="548640"/>
          </a:xfrm>
          <a:prstGeom prst="ellipse">
            <a:avLst/>
          </a:prstGeom>
          <a:solidFill>
            <a:srgbClr val="E5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8680" y="4786883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A96B"/>
                </a:solidFill>
                <a:latin typeface="Inter"/>
              </a:rPr>
              <a:t>◇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572768" y="4727448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810512" y="4754879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10512" y="5056631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Verify subscriber eligibility and subscription status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216" y="4590288"/>
            <a:ext cx="5458968" cy="932688"/>
          </a:xfrm>
          <a:prstGeom prst="roundRect">
            <a:avLst/>
          </a:prstGeom>
          <a:solidFill>
            <a:srgbClr val="E7F5FF"/>
          </a:solidFill>
          <a:ln w="8890">
            <a:solidFill>
              <a:srgbClr val="BF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519672" y="4782312"/>
            <a:ext cx="493776" cy="49377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83680" y="4814316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6327" y="4764024"/>
            <a:ext cx="41605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C2454"/>
                </a:solidFill>
                <a:latin typeface="Inter"/>
              </a:rPr>
              <a:t>Request processing, decision tracking, and provider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C2454"/>
                </a:solidFill>
                <a:latin typeface="Inter"/>
              </a:rPr>
              <a:t>Non-Functional Requirements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Quality attributes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" y="1636776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22376" y="2039112"/>
            <a:ext cx="630936" cy="63093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2071116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078EA"/>
                </a:solidFill>
                <a:latin typeface="Inter"/>
              </a:rPr>
              <a:t>◷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472184" y="1947672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55064" y="1984248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Performance —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5064" y="2468880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NFR-01: Main pages should load within 3 seconds under normal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1636776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62856" y="2039112"/>
            <a:ext cx="630936" cy="630936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6864" y="2071116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CA99F"/>
                </a:solidFill>
                <a:latin typeface="Inter"/>
              </a:rPr>
              <a:t>↗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12664" y="1947672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95544" y="1984248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Performance —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5544" y="2468880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NFR-02: Login, subscription viewing and status tracking target 3s in normal 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0456" y="1636776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403336" y="2039112"/>
            <a:ext cx="630936" cy="63093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67344" y="2071116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078EA"/>
                </a:solidFill>
                <a:latin typeface="Inter"/>
              </a:rPr>
              <a:t>▣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53144" y="1947672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36024" y="1984248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Security —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2468880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NFR-03: Protected functions require valid email and password.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9496" y="3657600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22376" y="4059936"/>
            <a:ext cx="630936" cy="630936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6384" y="4091940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472184" y="3968496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55064" y="4005072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Security — Roles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55064" y="4489704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NFR-04: Each role can access only its authorized system functions.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79976" y="3657600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562856" y="4059936"/>
            <a:ext cx="630936" cy="63093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6864" y="4091940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078EA"/>
                </a:solidFill>
                <a:latin typeface="Inter"/>
              </a:rPr>
              <a:t>♙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312664" y="3968496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95544" y="4005072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Usability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95544" y="4489704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NFR-05: Main functions should be reachable in 3–5 clear steps.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0456" y="3657600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403336" y="4059936"/>
            <a:ext cx="630936" cy="630936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67344" y="4091940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53144" y="3968496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336024" y="4005072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Reliability — Inputs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36024" y="4489704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NFR-06: Check required fields before signup, activation and request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2454"/>
                </a:solidFill>
                <a:latin typeface="Inter"/>
              </a:rPr>
              <a:t>Use Case Diagram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System behavior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1216152"/>
            <a:ext cx="10991088" cy="4892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6291072"/>
            <a:ext cx="99578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F7390"/>
                </a:solidFill>
                <a:latin typeface="Inter"/>
              </a:rPr>
              <a:t>Main actors and their interactions with the Health Insurance Management System.</a:t>
            </a:r>
          </a:p>
        </p:txBody>
      </p:sp>
      <p:pic>
        <p:nvPicPr>
          <p:cNvPr id="29" name="Updated Use Case Diagram (SVG fallback PNG)" descr="UseCase_hi_re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0493" y="1284732"/>
            <a:ext cx="3931014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2454"/>
                </a:solidFill>
                <a:latin typeface="Inter"/>
              </a:rPr>
              <a:t>Activity Diagram — Add Health Insurance 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Analysis model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1252728"/>
            <a:ext cx="10991088" cy="49651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new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543" y="1325880"/>
            <a:ext cx="5954144" cy="48188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5568" y="6291072"/>
            <a:ext cx="99578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F7390"/>
                </a:solidFill>
                <a:latin typeface="Inter"/>
              </a:rPr>
              <a:t>Main activity flow for adding a health insurance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2454"/>
                </a:solidFill>
                <a:latin typeface="Inter"/>
              </a:rPr>
              <a:t>Sequence Diagram — Add Health Insurance 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Interaction model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1252728"/>
            <a:ext cx="10991088" cy="49651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new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325" y="1325880"/>
            <a:ext cx="6842581" cy="48188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5568" y="6291072"/>
            <a:ext cx="99578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F7390"/>
                </a:solidFill>
                <a:latin typeface="Inter"/>
              </a:rPr>
              <a:t>Interaction flow among the administrator, interface, service, and insurance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2454"/>
                </a:solidFill>
                <a:latin typeface="Inter"/>
              </a:rPr>
              <a:t>Class Diagram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Static system structure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1252728"/>
            <a:ext cx="10991088" cy="49651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6291072"/>
            <a:ext cx="99578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F7390"/>
                </a:solidFill>
                <a:latin typeface="Inter"/>
              </a:rPr>
              <a:t>Main classes, attributes, operations, and relationships of the system.</a:t>
            </a:r>
          </a:p>
        </p:txBody>
      </p:sp>
      <p:pic>
        <p:nvPicPr>
          <p:cNvPr id="29" name="Picture 28" descr="class_diagram_for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353312"/>
            <a:ext cx="10753344" cy="47457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C2454"/>
                </a:solidFill>
                <a:latin typeface="Inter"/>
              </a:rPr>
              <a:t>Use Case Description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Add New Health Insurance Plan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1207008"/>
            <a:ext cx="10844784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3660"/>
                </a:solidFill>
                <a:latin typeface="Inter"/>
              </a:rPr>
              <a:t>Table 10. Use Case Description: Add New Health Insurance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" y="1664208"/>
            <a:ext cx="10863072" cy="539496"/>
          </a:xfrm>
          <a:prstGeom prst="rect">
            <a:avLst/>
          </a:prstGeom>
          <a:solidFill>
            <a:srgbClr val="F2F8FE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1664208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" y="1764792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Use Case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8104" y="1746504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Add New Health Insurance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" y="2203704"/>
            <a:ext cx="10863072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4944" y="2203704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2304288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Actor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104" y="2286000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System Administrator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" y="2743200"/>
            <a:ext cx="10863072" cy="621792"/>
          </a:xfrm>
          <a:prstGeom prst="rect">
            <a:avLst/>
          </a:prstGeom>
          <a:solidFill>
            <a:srgbClr val="F2F8FE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4944" y="2743200"/>
            <a:ext cx="2276856" cy="621792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" y="2843784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Case 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18104" y="2825496"/>
            <a:ext cx="816559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The system administrator adds a health insurance plan by entering its name, description, coverage limits, and pricing.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" y="3364992"/>
            <a:ext cx="10863072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4944" y="3364992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" y="3465576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Preconditions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18104" y="3447288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The administrator is logged in, and the required plan information is available.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" y="3904488"/>
            <a:ext cx="10863072" cy="539496"/>
          </a:xfrm>
          <a:prstGeom prst="rect">
            <a:avLst/>
          </a:prstGeom>
          <a:solidFill>
            <a:srgbClr val="F2F8FE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94944" y="3904488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" y="4005072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Postconditions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18104" y="3986784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A new health insurance plan is created and becomes available for subscription.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" y="4443984"/>
            <a:ext cx="10863072" cy="9784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94944" y="4443984"/>
            <a:ext cx="2276856" cy="978408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454456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Main 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18104" y="4526280"/>
            <a:ext cx="8165592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1. Open the Add Health Insurance Plan page.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2. Enter plan details (name, description, limits, and price).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3. Submit the form; the system validates the data.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4. The system creates the new plan.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" y="5422392"/>
            <a:ext cx="10863072" cy="539496"/>
          </a:xfrm>
          <a:prstGeom prst="rect">
            <a:avLst/>
          </a:prstGeom>
          <a:solidFill>
            <a:srgbClr val="F2F8FE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4944" y="5422392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0392" y="5522976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Exceptional 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18104" y="5504688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Missing or invalid data, duplicate plan name, or server error.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System Architecture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Layered architecture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1261872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F7390"/>
                </a:solidFill>
                <a:latin typeface="Inter"/>
              </a:rPr>
              <a:t>The system separates the presentation, business logic, data access, and database layers.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52144" y="1700784"/>
            <a:ext cx="9875520" cy="43525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lide14_pi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81" y="1769364"/>
            <a:ext cx="8380644" cy="42153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Database Design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Entity–Relationship Diagram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1216152"/>
            <a:ext cx="10835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F7390"/>
                </a:solidFill>
                <a:latin typeface="Inter"/>
              </a:rPr>
              <a:t>The ERD defines the core entities and relationships supporting the main system functions.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21992" y="1645920"/>
            <a:ext cx="7744968" cy="4507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lide15_pi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128" y="1709928"/>
            <a:ext cx="5972694" cy="43799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6254496"/>
            <a:ext cx="94457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5" b="0" i="0">
                <a:solidFill>
                  <a:srgbClr val="5F7390"/>
                </a:solidFill>
                <a:latin typeface="Inter"/>
              </a:rPr>
              <a:t>Entity–Relationship Diagram of the Health Insurance Management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C2454"/>
                </a:solidFill>
                <a:latin typeface="Inter"/>
              </a:rPr>
              <a:t>Development Environment &amp; Technology Stack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Implementation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1252728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90"/>
                </a:solidFill>
                <a:latin typeface="Inter"/>
              </a:rPr>
              <a:t>A full-stack web application using modern technologies for interfaces, validation, authorization, and data management.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1828800"/>
            <a:ext cx="5449824" cy="14996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2148840"/>
            <a:ext cx="621792" cy="62179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" y="2180844"/>
            <a:ext cx="4937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78EA"/>
                </a:solidFill>
                <a:latin typeface="Inter"/>
              </a:rPr>
              <a:t>UI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19072" y="2048256"/>
            <a:ext cx="0" cy="1078992"/>
          </a:xfrm>
          <a:prstGeom prst="line">
            <a:avLst/>
          </a:prstGeom>
          <a:ln w="12700">
            <a:solidFill>
              <a:srgbClr val="D7E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47672" y="2066543"/>
            <a:ext cx="397763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C2454"/>
                </a:solidFill>
                <a:latin typeface="Inter"/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6815" y="2423160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Next.js App Router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56815" y="267004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TypeScript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815" y="291693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Tailwind CSS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1828800"/>
            <a:ext cx="5449824" cy="14996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83680" y="2148840"/>
            <a:ext cx="621792" cy="62179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47688" y="2180844"/>
            <a:ext cx="4937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A99F"/>
                </a:solidFill>
                <a:latin typeface="Inter"/>
              </a:rPr>
              <a:t>BL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88352" y="2048256"/>
            <a:ext cx="0" cy="1078992"/>
          </a:xfrm>
          <a:prstGeom prst="line">
            <a:avLst/>
          </a:prstGeom>
          <a:ln w="12700">
            <a:solidFill>
              <a:srgbClr val="D7E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16952" y="2066543"/>
            <a:ext cx="397763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C2454"/>
                </a:solidFill>
                <a:latin typeface="Inter"/>
              </a:rPr>
              <a:t>Application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6" y="2423160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Server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267004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Zod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6096" y="291693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Role-based authorization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3493008"/>
            <a:ext cx="5449824" cy="14996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14400" y="3813048"/>
            <a:ext cx="621792" cy="62179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" y="3845052"/>
            <a:ext cx="4937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78EA"/>
                </a:solidFill>
                <a:latin typeface="Inter"/>
              </a:rPr>
              <a:t>DB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19072" y="3712464"/>
            <a:ext cx="0" cy="1078992"/>
          </a:xfrm>
          <a:prstGeom prst="line">
            <a:avLst/>
          </a:prstGeom>
          <a:ln w="12700">
            <a:solidFill>
              <a:srgbClr val="D7E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947672" y="3730752"/>
            <a:ext cx="397763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C2454"/>
                </a:solidFill>
                <a:latin typeface="Inter"/>
              </a:rPr>
              <a:t>Data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6815" y="408736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Prisma 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6815" y="433425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PostgreSQL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6815" y="4581144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Private invoice file storage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7648" y="3493008"/>
            <a:ext cx="5449824" cy="14996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583680" y="3813048"/>
            <a:ext cx="621792" cy="62179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47688" y="3845052"/>
            <a:ext cx="4937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A99F"/>
                </a:solidFill>
                <a:latin typeface="Inter"/>
              </a:rPr>
              <a:t>DV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88352" y="3712464"/>
            <a:ext cx="0" cy="1078992"/>
          </a:xfrm>
          <a:prstGeom prst="line">
            <a:avLst/>
          </a:prstGeom>
          <a:ln w="12700">
            <a:solidFill>
              <a:srgbClr val="D7E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16952" y="3730752"/>
            <a:ext cx="397763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C2454"/>
                </a:solidFill>
                <a:latin typeface="Inter"/>
              </a:rPr>
              <a:t>Development 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6096" y="408736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Visual Studio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6096" y="433425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Git and GitHub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6096" y="4581144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Local development environment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" y="5431536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04672" y="5522976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4283" y="5573268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53312" y="5568696"/>
            <a:ext cx="9985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454"/>
                </a:solidFill>
                <a:latin typeface="Inter"/>
              </a:rPr>
              <a:t>The technology stack supports modular implementation and future maintainability.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Six Main Functional Modules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Implementation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1197864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5" b="0" i="0">
                <a:solidFill>
                  <a:srgbClr val="5F7390"/>
                </a:solidFill>
                <a:latin typeface="Inter"/>
              </a:rPr>
              <a:t>Each functional module combines the interface, validation, business logic, and data-access operations for its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1792224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2104" y="2075688"/>
            <a:ext cx="512064" cy="51206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2107692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◎</a:t>
            </a:r>
          </a:p>
        </p:txBody>
      </p:sp>
      <p:sp>
        <p:nvSpPr>
          <p:cNvPr id="30" name="Oval 29"/>
          <p:cNvSpPr/>
          <p:nvPr/>
        </p:nvSpPr>
        <p:spPr>
          <a:xfrm>
            <a:off x="832104" y="1920240"/>
            <a:ext cx="237744" cy="237744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" y="1967788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3624" y="1984248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Account &amp; 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3624" y="2350008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Subscriber and provider registration with role-based sign-in.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1792224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19672" y="2075688"/>
            <a:ext cx="512064" cy="512064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2107692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A99F"/>
                </a:solidFill>
                <a:latin typeface="Inter"/>
              </a:rPr>
              <a:t>▤</a:t>
            </a:r>
          </a:p>
        </p:txBody>
      </p:sp>
      <p:sp>
        <p:nvSpPr>
          <p:cNvPr id="37" name="Oval 36"/>
          <p:cNvSpPr/>
          <p:nvPr/>
        </p:nvSpPr>
        <p:spPr>
          <a:xfrm>
            <a:off x="6519672" y="1920240"/>
            <a:ext cx="237744" cy="237744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92823" y="1967788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1984248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Plans &amp;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2350008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Create insurance plans and define covered services and coverage percentages.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063239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32104" y="3346703"/>
            <a:ext cx="512064" cy="51206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" y="3378708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sp>
        <p:nvSpPr>
          <p:cNvPr id="44" name="Oval 43"/>
          <p:cNvSpPr/>
          <p:nvPr/>
        </p:nvSpPr>
        <p:spPr>
          <a:xfrm>
            <a:off x="832104" y="3191256"/>
            <a:ext cx="237744" cy="237744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5256" y="3238804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63624" y="3255263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Subscription Activation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63624" y="3621023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Link a subscriber to an insurance plan and activate coverage.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59" y="3063239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519672" y="3346703"/>
            <a:ext cx="512064" cy="512064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0" y="3378708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A99F"/>
                </a:solidFill>
                <a:latin typeface="Inter"/>
              </a:rPr>
              <a:t>↑</a:t>
            </a:r>
          </a:p>
        </p:txBody>
      </p:sp>
      <p:sp>
        <p:nvSpPr>
          <p:cNvPr id="51" name="Oval 50"/>
          <p:cNvSpPr/>
          <p:nvPr/>
        </p:nvSpPr>
        <p:spPr>
          <a:xfrm>
            <a:off x="6519672" y="3191256"/>
            <a:ext cx="237744" cy="237744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92823" y="3238804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1192" y="3255263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Reimbursement Submission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1192" y="3621023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Submit requests and upload invoices or medical documents.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" y="4334256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32104" y="4617720"/>
            <a:ext cx="512064" cy="51206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6112" y="4649724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◈</a:t>
            </a:r>
          </a:p>
        </p:txBody>
      </p:sp>
      <p:sp>
        <p:nvSpPr>
          <p:cNvPr id="58" name="Oval 57"/>
          <p:cNvSpPr/>
          <p:nvPr/>
        </p:nvSpPr>
        <p:spPr>
          <a:xfrm>
            <a:off x="832104" y="4462272"/>
            <a:ext cx="237744" cy="237744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5256" y="4509820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63624" y="4526280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Review &amp; Decision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63624" y="4892040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Review requests and approve or reject them with a reason.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59" y="4334256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519672" y="4617720"/>
            <a:ext cx="512064" cy="512064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0" y="4649724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A99F"/>
                </a:solidFill>
                <a:latin typeface="Inter"/>
              </a:rPr>
              <a:t>◇</a:t>
            </a:r>
          </a:p>
        </p:txBody>
      </p:sp>
      <p:sp>
        <p:nvSpPr>
          <p:cNvPr id="65" name="Oval 64"/>
          <p:cNvSpPr/>
          <p:nvPr/>
        </p:nvSpPr>
        <p:spPr>
          <a:xfrm>
            <a:off x="6519672" y="4462272"/>
            <a:ext cx="237744" cy="237744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92823" y="4509820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51192" y="4526280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Eligibility Verification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51192" y="4892040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Verify subscriber eligibility and active subscription status.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8" y="5788152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04672" y="5879592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94283" y="5929884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3312" y="5925312"/>
            <a:ext cx="9985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454"/>
                </a:solidFill>
                <a:latin typeface="Inter"/>
              </a:rPr>
              <a:t>The modules were implemented and tested incrementally before integration.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0C2454"/>
                </a:solidFill>
                <a:latin typeface="Inter"/>
              </a:rPr>
              <a:t>Implemented System Interfaces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Selected interfaces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1197864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5F7390"/>
                </a:solidFill>
                <a:latin typeface="Inter"/>
              </a:rPr>
              <a:t>Screenshots from implemented workflows for the administrator, subscriber, and medical service provider.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1709928"/>
            <a:ext cx="5422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Administrator — Create Insurance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2057400"/>
            <a:ext cx="5449824" cy="1618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lide18_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905" y="2093976"/>
            <a:ext cx="4126749" cy="15453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64223" y="1709928"/>
            <a:ext cx="5422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Administrator — Activate Subscription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45936" y="2057400"/>
            <a:ext cx="5449824" cy="1618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slide18_pi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011" y="2093976"/>
            <a:ext cx="4127673" cy="15453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6656" y="3877056"/>
            <a:ext cx="5422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Subscriber — Submit Reimbursement Request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224528"/>
            <a:ext cx="5449824" cy="1618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slide18_pic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701" y="4261104"/>
            <a:ext cx="4131157" cy="1545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64223" y="3877056"/>
            <a:ext cx="5422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Medical Provider — Verify Eligibility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5936" y="4224528"/>
            <a:ext cx="5449824" cy="1618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slide18_pic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369" y="4261104"/>
            <a:ext cx="4126956" cy="1545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70" b="1" i="0">
                <a:solidFill>
                  <a:srgbClr val="0C2454"/>
                </a:solidFill>
                <a:latin typeface="Inter"/>
              </a:rPr>
              <a:t>Achieved Results &amp; Comparison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Results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1197864"/>
            <a:ext cx="108539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390"/>
                </a:solidFill>
                <a:latin typeface="Inter"/>
              </a:rPr>
              <a:t>The implemented prototype supports core workflows with controlled access according to user roles.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1719072"/>
            <a:ext cx="5376672" cy="382219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08776" y="1719072"/>
            <a:ext cx="5376672" cy="382219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2104" y="1947672"/>
            <a:ext cx="502920" cy="50292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1979676"/>
            <a:ext cx="37490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2184" y="2039112"/>
            <a:ext cx="42153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0" b="1" i="0">
                <a:solidFill>
                  <a:srgbClr val="0C2454"/>
                </a:solidFill>
                <a:latin typeface="Inter"/>
              </a:rPr>
              <a:t>Main implemented results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" y="2514600"/>
            <a:ext cx="4937760" cy="0"/>
          </a:xfrm>
          <a:prstGeom prst="line">
            <a:avLst/>
          </a:prstGeom>
          <a:ln w="12700">
            <a:solidFill>
              <a:srgbClr val="DB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77824" y="2688336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" y="2720340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2674620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Role-based authentication and access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" y="3118104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" y="3150108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3104388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Insurance plans and covered services management</a:t>
            </a:r>
          </a:p>
        </p:txBody>
      </p:sp>
      <p:sp>
        <p:nvSpPr>
          <p:cNvPr id="39" name="Oval 38"/>
          <p:cNvSpPr/>
          <p:nvPr/>
        </p:nvSpPr>
        <p:spPr>
          <a:xfrm>
            <a:off x="877824" y="3547872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" y="3579876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1872" y="3534156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Subscriber subscription activation</a:t>
            </a:r>
          </a:p>
        </p:txBody>
      </p:sp>
      <p:sp>
        <p:nvSpPr>
          <p:cNvPr id="42" name="Oval 41"/>
          <p:cNvSpPr/>
          <p:nvPr/>
        </p:nvSpPr>
        <p:spPr>
          <a:xfrm>
            <a:off x="877824" y="3977639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" y="4009644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1872" y="3963924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Reimbursement request submission with documents</a:t>
            </a:r>
          </a:p>
        </p:txBody>
      </p:sp>
      <p:sp>
        <p:nvSpPr>
          <p:cNvPr id="45" name="Oval 44"/>
          <p:cNvSpPr/>
          <p:nvPr/>
        </p:nvSpPr>
        <p:spPr>
          <a:xfrm>
            <a:off x="877824" y="4407408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1832" y="4439412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4393692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Request review, approval, and rejection</a:t>
            </a:r>
          </a:p>
        </p:txBody>
      </p:sp>
      <p:sp>
        <p:nvSpPr>
          <p:cNvPr id="48" name="Oval 47"/>
          <p:cNvSpPr/>
          <p:nvPr/>
        </p:nvSpPr>
        <p:spPr>
          <a:xfrm>
            <a:off x="877824" y="4837175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1832" y="4869179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1872" y="4823459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Provider eligibility verification</a:t>
            </a:r>
          </a:p>
        </p:txBody>
      </p:sp>
      <p:sp>
        <p:nvSpPr>
          <p:cNvPr id="51" name="Oval 50"/>
          <p:cNvSpPr/>
          <p:nvPr/>
        </p:nvSpPr>
        <p:spPr>
          <a:xfrm>
            <a:off x="6446520" y="1929384"/>
            <a:ext cx="502920" cy="50292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0528" y="1961388"/>
            <a:ext cx="37490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1993392"/>
            <a:ext cx="41879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454"/>
                </a:solidFill>
                <a:latin typeface="Inter"/>
              </a:rPr>
              <a:t>Traditional process vs. proposed system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19088" y="2587752"/>
            <a:ext cx="2377440" cy="429768"/>
          </a:xfrm>
          <a:prstGeom prst="roundRect">
            <a:avLst/>
          </a:prstGeom>
          <a:solidFill>
            <a:srgbClr val="0C2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887968" y="2587752"/>
            <a:ext cx="2377440" cy="429768"/>
          </a:xfrm>
          <a:prstGeom prst="round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83096" y="2679192"/>
            <a:ext cx="22219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Inter"/>
              </a:rPr>
              <a:t>Traditional 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832" y="2679192"/>
            <a:ext cx="2240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Inter"/>
              </a:rPr>
              <a:t>Proposed System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19088" y="3108960"/>
            <a:ext cx="2377440" cy="438912"/>
          </a:xfrm>
          <a:prstGeom prst="roundRect">
            <a:avLst/>
          </a:prstGeom>
          <a:solidFill>
            <a:srgbClr val="F1F7FD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887968" y="3108960"/>
            <a:ext cx="2377440" cy="438912"/>
          </a:xfrm>
          <a:prstGeom prst="roundRect">
            <a:avLst/>
          </a:prstGeom>
          <a:solidFill>
            <a:srgbClr val="F0FCF9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47104" y="3177540"/>
            <a:ext cx="2103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Manual operations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97696" y="3177540"/>
            <a:ext cx="21305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Digital workflows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19088" y="3639312"/>
            <a:ext cx="2377440" cy="438912"/>
          </a:xfrm>
          <a:prstGeom prst="roundRect">
            <a:avLst/>
          </a:prstGeom>
          <a:solidFill>
            <a:srgbClr val="F1F7FD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887968" y="3639312"/>
            <a:ext cx="2377440" cy="438912"/>
          </a:xfrm>
          <a:prstGeom prst="roundRect">
            <a:avLst/>
          </a:prstGeom>
          <a:solidFill>
            <a:srgbClr val="F0FCF9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47104" y="3707891"/>
            <a:ext cx="2103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Disconnected records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97696" y="3707891"/>
            <a:ext cx="21305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Centralized data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19088" y="4169663"/>
            <a:ext cx="2377440" cy="438912"/>
          </a:xfrm>
          <a:prstGeom prst="roundRect">
            <a:avLst/>
          </a:prstGeom>
          <a:solidFill>
            <a:srgbClr val="F1F7FD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887968" y="4169663"/>
            <a:ext cx="2377440" cy="438912"/>
          </a:xfrm>
          <a:prstGeom prst="roundRect">
            <a:avLst/>
          </a:prstGeom>
          <a:solidFill>
            <a:srgbClr val="F0FCF9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47104" y="4238244"/>
            <a:ext cx="2103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Slow eligibility checks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97696" y="4238244"/>
            <a:ext cx="21305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Quick verification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19088" y="4700016"/>
            <a:ext cx="2377440" cy="438912"/>
          </a:xfrm>
          <a:prstGeom prst="roundRect">
            <a:avLst/>
          </a:prstGeom>
          <a:solidFill>
            <a:srgbClr val="F1F7FD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887968" y="4700016"/>
            <a:ext cx="2377440" cy="438912"/>
          </a:xfrm>
          <a:prstGeom prst="roundRect">
            <a:avLst/>
          </a:prstGeom>
          <a:solidFill>
            <a:srgbClr val="F0FCF9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7104" y="4768596"/>
            <a:ext cx="2103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Limited request tracking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97696" y="4768596"/>
            <a:ext cx="21305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Clear status tracking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2648" y="5715000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04672" y="5806440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94283" y="5856732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0" y="585216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2078EA"/>
                </a:solidFill>
                <a:latin typeface="Inter"/>
              </a:rPr>
              <a:t>Result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5843016"/>
            <a:ext cx="8366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Organized role-based digital workflows replace scattered manual processes.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Testing Indicators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Results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1188720"/>
            <a:ext cx="10771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390"/>
                </a:solidFill>
                <a:latin typeface="Inter"/>
              </a:rPr>
              <a:t>Workflow, authorization, validation, and data-access checks were carried out during development and integration.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1728216"/>
            <a:ext cx="1092708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1728216"/>
            <a:ext cx="10927080" cy="539496"/>
          </a:xfrm>
          <a:prstGeom prst="rect">
            <a:avLst/>
          </a:prstGeom>
          <a:solidFill>
            <a:srgbClr val="E9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544" y="1860804"/>
            <a:ext cx="284378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C2454"/>
                </a:solidFill>
                <a:latin typeface="Inter"/>
              </a:rPr>
              <a:t>Indicator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22776" y="1860804"/>
            <a:ext cx="599846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C2454"/>
                </a:solidFill>
                <a:latin typeface="Inter"/>
              </a:rPr>
              <a:t>Verification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1860804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C2454"/>
                </a:solidFill>
                <a:latin typeface="Inter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2267712"/>
            <a:ext cx="10881360" cy="562356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" y="2423160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Functional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2776" y="2395728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Checked for administrator, subscriber, and provider roles.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57232" y="2414016"/>
            <a:ext cx="1399032" cy="310896"/>
          </a:xfrm>
          <a:prstGeom prst="roundRect">
            <a:avLst/>
          </a:prstGeom>
          <a:solidFill>
            <a:srgbClr val="E4F9F1"/>
          </a:solidFill>
          <a:ln w="8890">
            <a:solidFill>
              <a:srgbClr val="A8E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66960" y="2464308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1A96B"/>
                </a:solidFill>
                <a:latin typeface="Inter"/>
              </a:rPr>
              <a:t>Verified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2104" y="2830068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23544" y="2984601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Role authorization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2776" y="2957169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Access restrictions checked for each user role.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7232" y="2975457"/>
            <a:ext cx="1399032" cy="310896"/>
          </a:xfrm>
          <a:prstGeom prst="roundRect">
            <a:avLst/>
          </a:prstGeom>
          <a:solidFill>
            <a:srgbClr val="E4F9F1"/>
          </a:solidFill>
          <a:ln w="8890">
            <a:solidFill>
              <a:srgbClr val="A8E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60" y="3025749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1A96B"/>
                </a:solidFill>
                <a:latin typeface="Inter"/>
              </a:rPr>
              <a:t>Verified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2104" y="3391509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58368" y="3390595"/>
            <a:ext cx="10881360" cy="562356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3544" y="3546043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Input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22776" y="3518611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Invalid and missing values display validation errors.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57232" y="3536899"/>
            <a:ext cx="1399032" cy="310896"/>
          </a:xfrm>
          <a:prstGeom prst="roundRect">
            <a:avLst/>
          </a:prstGeom>
          <a:solidFill>
            <a:srgbClr val="E4F9F1"/>
          </a:solidFill>
          <a:ln w="8890">
            <a:solidFill>
              <a:srgbClr val="A8E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66960" y="3587191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1A96B"/>
                </a:solidFill>
                <a:latin typeface="Inter"/>
              </a:rPr>
              <a:t>Verified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2104" y="3952951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23544" y="4107484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Database operations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22776" y="4080052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Records are created, retrieved, and related correctly.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57232" y="4098340"/>
            <a:ext cx="1399032" cy="310896"/>
          </a:xfrm>
          <a:prstGeom prst="roundRect">
            <a:avLst/>
          </a:prstGeom>
          <a:solidFill>
            <a:srgbClr val="E4F9F1"/>
          </a:solidFill>
          <a:ln w="8890">
            <a:solidFill>
              <a:srgbClr val="A8E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66960" y="4148632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1A96B"/>
                </a:solidFill>
                <a:latin typeface="Inter"/>
              </a:rPr>
              <a:t>Verified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2104" y="4514392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58368" y="4513478"/>
            <a:ext cx="10881360" cy="562356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3544" y="4668926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File upload handling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22776" y="4641494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Invoice type, size, and access checks were reviewed.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57232" y="4659782"/>
            <a:ext cx="1399032" cy="310896"/>
          </a:xfrm>
          <a:prstGeom prst="roundRect">
            <a:avLst/>
          </a:prstGeom>
          <a:solidFill>
            <a:srgbClr val="EAF4FF"/>
          </a:solidFill>
          <a:ln w="8890">
            <a:solidFill>
              <a:srgbClr val="C4D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66960" y="4710074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2078EA"/>
                </a:solidFill>
                <a:latin typeface="Inter"/>
              </a:rPr>
              <a:t>Checked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2104" y="5075834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23544" y="5230368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Performance target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22776" y="5202936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Main-page performance evaluated under local conditions.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57232" y="5221224"/>
            <a:ext cx="1399032" cy="310896"/>
          </a:xfrm>
          <a:prstGeom prst="roundRect">
            <a:avLst/>
          </a:prstGeom>
          <a:solidFill>
            <a:srgbClr val="EAF4FF"/>
          </a:solidFill>
          <a:ln w="8890">
            <a:solidFill>
              <a:srgbClr val="C4D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966960" y="5271516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2078EA"/>
                </a:solidFill>
                <a:latin typeface="Inter"/>
              </a:rPr>
              <a:t>Checked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" y="5824728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04672" y="5916168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4283" y="5966460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53312" y="5961888"/>
            <a:ext cx="9985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454"/>
                </a:solidFill>
                <a:latin typeface="Inter"/>
              </a:rPr>
              <a:t>Testing was conducted incrementally and repeated after integration.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0C2454"/>
                </a:solidFill>
                <a:latin typeface="Inter"/>
              </a:rPr>
              <a:t>Conclusion &amp; Recommendations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Wrap-up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572768"/>
            <a:ext cx="3685032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68096" y="1911095"/>
            <a:ext cx="649224" cy="649224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3" y="1943100"/>
            <a:ext cx="521207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63624" y="1819656"/>
            <a:ext cx="0" cy="804672"/>
          </a:xfrm>
          <a:prstGeom prst="line">
            <a:avLst/>
          </a:prstGeom>
          <a:ln w="12700">
            <a:solidFill>
              <a:srgbClr val="D5E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64792" y="2029967"/>
            <a:ext cx="22768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Achievements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3026664"/>
            <a:ext cx="338328" cy="338328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305866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297180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Digitized core procedures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758184"/>
            <a:ext cx="338328" cy="338328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" y="379018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37033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Created role-based interfaces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4489704"/>
            <a:ext cx="338328" cy="338328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6968" y="452170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" y="443484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Integrated administrative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1572768"/>
            <a:ext cx="3685032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636008" y="1911095"/>
            <a:ext cx="649224" cy="649224"/>
          </a:xfrm>
          <a:prstGeom prst="ellipse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00016" y="1943100"/>
            <a:ext cx="521207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79C35"/>
                </a:solidFill>
                <a:latin typeface="Inter"/>
              </a:rPr>
              <a:t>!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31536" y="1819656"/>
            <a:ext cx="0" cy="804672"/>
          </a:xfrm>
          <a:prstGeom prst="line">
            <a:avLst/>
          </a:prstGeom>
          <a:ln w="12700">
            <a:solidFill>
              <a:srgbClr val="D5E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32704" y="2029967"/>
            <a:ext cx="22768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Challenges</a:t>
            </a:r>
          </a:p>
        </p:txBody>
      </p:sp>
      <p:sp>
        <p:nvSpPr>
          <p:cNvPr id="45" name="Oval 44"/>
          <p:cNvSpPr/>
          <p:nvPr/>
        </p:nvSpPr>
        <p:spPr>
          <a:xfrm>
            <a:off x="4690872" y="3026664"/>
            <a:ext cx="338328" cy="338328"/>
          </a:xfrm>
          <a:prstGeom prst="ellipse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0" y="305866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9C35"/>
                </a:solidFill>
                <a:latin typeface="Inter"/>
              </a:rPr>
              <a:t>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2936" y="297180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Limited project time</a:t>
            </a:r>
          </a:p>
        </p:txBody>
      </p:sp>
      <p:sp>
        <p:nvSpPr>
          <p:cNvPr id="48" name="Oval 47"/>
          <p:cNvSpPr/>
          <p:nvPr/>
        </p:nvSpPr>
        <p:spPr>
          <a:xfrm>
            <a:off x="4690872" y="3758184"/>
            <a:ext cx="338328" cy="338328"/>
          </a:xfrm>
          <a:prstGeom prst="ellipse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4880" y="379018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9C35"/>
                </a:solidFill>
                <a:latin typeface="Inter"/>
              </a:rPr>
              <a:t>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02936" y="37033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Lack of real insurance data</a:t>
            </a:r>
          </a:p>
        </p:txBody>
      </p:sp>
      <p:sp>
        <p:nvSpPr>
          <p:cNvPr id="51" name="Oval 50"/>
          <p:cNvSpPr/>
          <p:nvPr/>
        </p:nvSpPr>
        <p:spPr>
          <a:xfrm>
            <a:off x="4690872" y="4489704"/>
            <a:ext cx="338328" cy="338328"/>
          </a:xfrm>
          <a:prstGeom prst="ellipse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0" y="452170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9C35"/>
                </a:solidFill>
                <a:latin typeface="Inter"/>
              </a:rPr>
              <a:t>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2936" y="443484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Complex business process modeling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02752" y="1572768"/>
            <a:ext cx="3685032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503920" y="1911095"/>
            <a:ext cx="649224" cy="64922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67928" y="1943100"/>
            <a:ext cx="521207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078EA"/>
                </a:solidFill>
                <a:latin typeface="Inter"/>
              </a:rPr>
              <a:t>↗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299448" y="1819656"/>
            <a:ext cx="0" cy="804672"/>
          </a:xfrm>
          <a:prstGeom prst="line">
            <a:avLst/>
          </a:prstGeom>
          <a:ln w="12700">
            <a:solidFill>
              <a:srgbClr val="D5E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500616" y="2029967"/>
            <a:ext cx="22768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Future Work</a:t>
            </a:r>
          </a:p>
        </p:txBody>
      </p:sp>
      <p:sp>
        <p:nvSpPr>
          <p:cNvPr id="59" name="Oval 58"/>
          <p:cNvSpPr/>
          <p:nvPr/>
        </p:nvSpPr>
        <p:spPr>
          <a:xfrm>
            <a:off x="8558784" y="3026664"/>
            <a:ext cx="338328" cy="338328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2792" y="305866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78EA"/>
                </a:solidFill>
                <a:latin typeface="Inter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297180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Electronic payment processing</a:t>
            </a:r>
          </a:p>
        </p:txBody>
      </p:sp>
      <p:sp>
        <p:nvSpPr>
          <p:cNvPr id="62" name="Oval 61"/>
          <p:cNvSpPr/>
          <p:nvPr/>
        </p:nvSpPr>
        <p:spPr>
          <a:xfrm>
            <a:off x="8558784" y="3758184"/>
            <a:ext cx="338328" cy="338328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22792" y="379018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78EA"/>
                </a:solidFill>
                <a:latin typeface="Inter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0848" y="37033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Intelligent chatbot support</a:t>
            </a:r>
          </a:p>
        </p:txBody>
      </p:sp>
      <p:sp>
        <p:nvSpPr>
          <p:cNvPr id="65" name="Oval 64"/>
          <p:cNvSpPr/>
          <p:nvPr/>
        </p:nvSpPr>
        <p:spPr>
          <a:xfrm>
            <a:off x="8558784" y="4489704"/>
            <a:ext cx="338328" cy="338328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22792" y="452170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78EA"/>
                </a:solidFill>
                <a:latin typeface="Inter"/>
              </a:rP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0848" y="443484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External integration and fraud detection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2648" y="5678424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04672" y="5769864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94283" y="5820156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1600" y="5815584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2078EA"/>
                </a:solidFill>
                <a:latin typeface="Inter"/>
              </a:rPr>
              <a:t>Conclusion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80360" y="5806440"/>
            <a:ext cx="8366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The project applies software engineering principles to health insurance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1447</Words>
  <Application>Microsoft Office PowerPoint</Application>
  <PresentationFormat>Widescreen</PresentationFormat>
  <Paragraphs>408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>generated using python-pptx</dc:description>
  <cp:lastModifiedBy>Braa Alhayek</cp:lastModifiedBy>
  <cp:revision>5</cp:revision>
  <dcterms:created xsi:type="dcterms:W3CDTF">2013-01-27T09:14:16Z</dcterms:created>
  <dcterms:modified xsi:type="dcterms:W3CDTF">2026-10-23T13:46:36Z</dcterms:modified>
  <cp:category/>
</cp:coreProperties>
</file>